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8" r:id="rId2"/>
    <p:sldId id="256" r:id="rId3"/>
    <p:sldId id="259" r:id="rId4"/>
    <p:sldId id="275" r:id="rId5"/>
    <p:sldId id="260" r:id="rId6"/>
    <p:sldId id="274" r:id="rId7"/>
    <p:sldId id="291" r:id="rId8"/>
    <p:sldId id="261" r:id="rId9"/>
    <p:sldId id="272" r:id="rId10"/>
    <p:sldId id="273" r:id="rId11"/>
    <p:sldId id="276" r:id="rId12"/>
    <p:sldId id="287" r:id="rId13"/>
    <p:sldId id="277" r:id="rId14"/>
    <p:sldId id="279" r:id="rId15"/>
    <p:sldId id="286" r:id="rId16"/>
    <p:sldId id="278" r:id="rId17"/>
    <p:sldId id="280" r:id="rId18"/>
    <p:sldId id="285" r:id="rId19"/>
    <p:sldId id="284" r:id="rId20"/>
    <p:sldId id="294" r:id="rId21"/>
    <p:sldId id="288" r:id="rId22"/>
    <p:sldId id="281" r:id="rId23"/>
    <p:sldId id="292" r:id="rId24"/>
    <p:sldId id="293" r:id="rId25"/>
  </p:sldIdLst>
  <p:sldSz cx="12192000" cy="6858000"/>
  <p:notesSz cx="6858000" cy="9144000"/>
  <p:embeddedFontLst>
    <p:embeddedFont>
      <p:font typeface="Libre Baskerville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5" autoAdjust="0"/>
    <p:restoredTop sz="94660"/>
  </p:normalViewPr>
  <p:slideViewPr>
    <p:cSldViewPr snapToGrid="0">
      <p:cViewPr>
        <p:scale>
          <a:sx n="69" d="100"/>
          <a:sy n="69" d="100"/>
        </p:scale>
        <p:origin x="5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348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B804C39B-2BEB-C36F-062E-36AC36A66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CF081F4-7DA1-AB25-B14E-9A696C802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4780E2BD-0037-8C26-3E55-5BEDCB2F02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99810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github.com/ShivaniGundla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shivanigundla29/" TargetMode="External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FF2BB0-6C85-43EA-0720-B362A6BB0351}"/>
              </a:ext>
            </a:extLst>
          </p:cNvPr>
          <p:cNvSpPr txBox="1"/>
          <p:nvPr/>
        </p:nvSpPr>
        <p:spPr>
          <a:xfrm>
            <a:off x="71438" y="42863"/>
            <a:ext cx="68865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 Wide Energy Consumption Analysis Using MySQL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FEB42C46-B1FF-B2BE-5D42-6C15B4B0A402}"/>
              </a:ext>
            </a:extLst>
          </p:cNvPr>
          <p:cNvSpPr/>
          <p:nvPr/>
        </p:nvSpPr>
        <p:spPr>
          <a:xfrm>
            <a:off x="8133597" y="6782"/>
            <a:ext cx="4210095" cy="759591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SQL Project</a:t>
            </a:r>
            <a:endParaRPr lang="en-GB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8DC88348-81CD-5D88-4C98-63B73290B550}"/>
              </a:ext>
            </a:extLst>
          </p:cNvPr>
          <p:cNvSpPr/>
          <p:nvPr/>
        </p:nvSpPr>
        <p:spPr>
          <a:xfrm>
            <a:off x="-188834" y="5984140"/>
            <a:ext cx="3019446" cy="879836"/>
          </a:xfrm>
          <a:prstGeom prst="parallelogram">
            <a:avLst/>
          </a:prstGeom>
          <a:solidFill>
            <a:schemeClr val="bg1"/>
          </a:solidFill>
          <a:effectLst>
            <a:glow rad="101600">
              <a:schemeClr val="tx1">
                <a:lumMod val="85000"/>
                <a:lumOff val="15000"/>
                <a:alpha val="6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        Shivani Gundla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C42313CB-4D23-C058-B565-7BBBFFDEC043}"/>
              </a:ext>
            </a:extLst>
          </p:cNvPr>
          <p:cNvSpPr/>
          <p:nvPr/>
        </p:nvSpPr>
        <p:spPr>
          <a:xfrm>
            <a:off x="7915275" y="5984141"/>
            <a:ext cx="4526060" cy="867616"/>
          </a:xfrm>
          <a:prstGeom prst="parallelogram">
            <a:avLst/>
          </a:prstGeom>
          <a:solidFill>
            <a:schemeClr val="bg1"/>
          </a:solidFill>
          <a:effectLst>
            <a:glow rad="101600">
              <a:schemeClr val="tx1">
                <a:lumMod val="85000"/>
                <a:lumOff val="15000"/>
                <a:alpha val="6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https://github.com/ShivaniGundla</a:t>
            </a: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B0C84F4-CACC-6D98-AAFB-507012A69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598" y="6306414"/>
            <a:ext cx="304154" cy="3041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DB5458-42A2-B9DC-09C1-F76EC14C35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706"/>
          <a:stretch>
            <a:fillRect/>
          </a:stretch>
        </p:blipFill>
        <p:spPr>
          <a:xfrm>
            <a:off x="185736" y="6131094"/>
            <a:ext cx="438316" cy="453800"/>
          </a:xfrm>
          <a:prstGeom prst="rect">
            <a:avLst/>
          </a:prstGeom>
        </p:spPr>
      </p:pic>
      <p:sp>
        <p:nvSpPr>
          <p:cNvPr id="24" name="Parallelogram 23">
            <a:extLst>
              <a:ext uri="{FF2B5EF4-FFF2-40B4-BE49-F238E27FC236}">
                <a16:creationId xmlns:a16="http://schemas.microsoft.com/office/drawing/2014/main" id="{B58C5E84-A749-8ADB-8213-AE6F24A87F1F}"/>
              </a:ext>
            </a:extLst>
          </p:cNvPr>
          <p:cNvSpPr/>
          <p:nvPr/>
        </p:nvSpPr>
        <p:spPr>
          <a:xfrm>
            <a:off x="2704723" y="5983602"/>
            <a:ext cx="5319713" cy="867616"/>
          </a:xfrm>
          <a:prstGeom prst="parallelogram">
            <a:avLst/>
          </a:prstGeom>
          <a:solidFill>
            <a:schemeClr val="bg1"/>
          </a:solidFill>
          <a:effectLst>
            <a:glow rad="101600">
              <a:schemeClr val="tx1">
                <a:lumMod val="85000"/>
                <a:lumOff val="15000"/>
                <a:alpha val="6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https://www.linkedin.com/in/shivanigundla29/</a:t>
            </a: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9276564-A946-786D-6699-B31E462AC9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1410" y="6277402"/>
            <a:ext cx="376055" cy="30749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E8F7698-CAE2-C92D-2438-4109D13F96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8674" y="4293787"/>
            <a:ext cx="4210095" cy="112636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F26C6CF-8CFE-23D0-BD87-CD78903CE1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3004" y="1138958"/>
            <a:ext cx="3921433" cy="2913640"/>
          </a:xfrm>
          <a:prstGeom prst="rect">
            <a:avLst/>
          </a:prstGeom>
          <a:effectLst>
            <a:glow rad="101600">
              <a:schemeClr val="bg1">
                <a:lumMod val="75000"/>
                <a:alpha val="60000"/>
              </a:schemeClr>
            </a:glo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C4F9FBB-0C14-221E-DA6F-4F902D53C97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14149" y="52994"/>
            <a:ext cx="667166" cy="667166"/>
          </a:xfrm>
          <a:prstGeom prst="rect">
            <a:avLst/>
          </a:prstGeom>
        </p:spPr>
      </p:pic>
      <p:pic>
        <p:nvPicPr>
          <p:cNvPr id="36" name="Picture 35" descr="sql1">
            <a:extLst>
              <a:ext uri="{FF2B5EF4-FFF2-40B4-BE49-F238E27FC236}">
                <a16:creationId xmlns:a16="http://schemas.microsoft.com/office/drawing/2014/main" id="{8467578C-613C-62E7-56FB-1E5D349F315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1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1" y="1135451"/>
            <a:ext cx="6215412" cy="4566426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394388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198584" y="3881888"/>
            <a:ext cx="724618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Wide Energy Consumption Analysis Using MySQL</a:t>
            </a:r>
            <a:endParaRPr sz="3600" b="0" i="0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D775B4-4629-C68F-7C65-947ED7265480}"/>
              </a:ext>
            </a:extLst>
          </p:cNvPr>
          <p:cNvSpPr txBox="1"/>
          <p:nvPr/>
        </p:nvSpPr>
        <p:spPr>
          <a:xfrm>
            <a:off x="4169664" y="5248656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Shivani Gundla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C6F2B3-F2F7-5BBB-8840-CB5B5F526CC5}"/>
              </a:ext>
            </a:extLst>
          </p:cNvPr>
          <p:cNvSpPr/>
          <p:nvPr/>
        </p:nvSpPr>
        <p:spPr>
          <a:xfrm>
            <a:off x="8419171" y="5999357"/>
            <a:ext cx="3624146" cy="7359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sql2">
            <a:extLst>
              <a:ext uri="{FF2B5EF4-FFF2-40B4-BE49-F238E27FC236}">
                <a16:creationId xmlns:a16="http://schemas.microsoft.com/office/drawing/2014/main" id="{388562DA-D7AA-3403-F94E-47B6435DDAB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607" y="122664"/>
            <a:ext cx="8816898" cy="6612673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1005618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5B70E-13C5-5583-7BE2-97F5DEE2A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156A0A-C18A-C974-BA14-60A869B14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837" y="258617"/>
            <a:ext cx="11129818" cy="5975927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endParaRPr lang="en-IN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5CCF44-883E-018F-6BAF-601DA4D3A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79" y="1309042"/>
            <a:ext cx="4976221" cy="827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7F088D-32F5-B3E3-FE36-406820BF97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87" b="2287"/>
          <a:stretch>
            <a:fillRect/>
          </a:stretch>
        </p:blipFill>
        <p:spPr>
          <a:xfrm>
            <a:off x="885359" y="2460476"/>
            <a:ext cx="3577271" cy="252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3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B287B0-F862-EE9C-CA2C-9ED0DEF69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837" y="258617"/>
            <a:ext cx="11129818" cy="5975927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endParaRPr lang="en-IN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 to analyse how energy consumption, production and emission vary across countries and over time.</a:t>
            </a:r>
          </a:p>
          <a:p>
            <a:pPr algn="l">
              <a:buFont typeface="Wingdings" panose="05000000000000000000" pitchFamily="2" charset="2"/>
              <a:buChar char="v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aims to understand the relationship between energy usage, economic growth (GDP), and population dynamics. </a:t>
            </a:r>
          </a:p>
          <a:p>
            <a:pPr algn="l"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identifying key trends, such as changes in emissions over time and the contribution of different energy types to overall emissions.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137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269F8-5D4B-BB70-EE54-EB57E00A2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519094-9940-A632-004E-0F2B89594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091" y="-191386"/>
            <a:ext cx="11129818" cy="597592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  <a:p>
            <a:endParaRPr lang="en-IN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DF8E2-5379-BAB6-A89D-12BAD7F82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556" y="527541"/>
            <a:ext cx="9356651" cy="56551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15322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F6417-1A7A-03CC-55BB-8EE35FE0E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QUESTIONS</a:t>
            </a:r>
            <a:b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B0880-2C89-110F-7E3D-17B615D9A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364" y="645822"/>
            <a:ext cx="5181600" cy="5745741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GB" b="1" dirty="0"/>
              <a:t>General Analysis</a:t>
            </a:r>
          </a:p>
          <a:p>
            <a:r>
              <a:rPr lang="en-GB" dirty="0"/>
              <a:t>Total emission per country for recent year</a:t>
            </a:r>
          </a:p>
          <a:p>
            <a:r>
              <a:rPr lang="en-GB" dirty="0"/>
              <a:t>Top 5 countries by GDP</a:t>
            </a:r>
          </a:p>
          <a:p>
            <a:r>
              <a:rPr lang="en-GB" dirty="0"/>
              <a:t>Production vs consumption</a:t>
            </a:r>
          </a:p>
          <a:p>
            <a:r>
              <a:rPr lang="en-GB" dirty="0"/>
              <a:t>Major energy type emission contributors</a:t>
            </a:r>
          </a:p>
          <a:p>
            <a:pPr marL="114300" indent="0">
              <a:buNone/>
            </a:pPr>
            <a:r>
              <a:rPr lang="en-GB" b="1" dirty="0"/>
              <a:t>Trend Analysis</a:t>
            </a:r>
          </a:p>
          <a:p>
            <a:r>
              <a:rPr lang="en-GB" dirty="0"/>
              <a:t>Emission trends over years</a:t>
            </a:r>
          </a:p>
          <a:p>
            <a:r>
              <a:rPr lang="en-GB" dirty="0"/>
              <a:t>GDP trends for each country</a:t>
            </a:r>
          </a:p>
          <a:p>
            <a:r>
              <a:rPr lang="en-GB" dirty="0"/>
              <a:t>Population vs emissions</a:t>
            </a:r>
          </a:p>
          <a:p>
            <a:r>
              <a:rPr lang="en-GB" dirty="0"/>
              <a:t>Energy consumption trends</a:t>
            </a:r>
          </a:p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F79BD-22F8-E72B-3AC7-2E76054A6C8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837383" y="766618"/>
            <a:ext cx="6234544" cy="5410345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Ratio Analysis</a:t>
            </a:r>
          </a:p>
          <a:p>
            <a:r>
              <a:rPr lang="en-US" dirty="0"/>
              <a:t>Emission-to-GDP ratio</a:t>
            </a:r>
          </a:p>
          <a:p>
            <a:r>
              <a:rPr lang="en-US" dirty="0"/>
              <a:t>Production per capita</a:t>
            </a:r>
          </a:p>
          <a:p>
            <a:r>
              <a:rPr lang="en-US" dirty="0"/>
              <a:t>Energy Consumption relative to GDP</a:t>
            </a:r>
          </a:p>
          <a:p>
            <a:r>
              <a:rPr lang="en-US" dirty="0"/>
              <a:t>Consumption per capita</a:t>
            </a:r>
          </a:p>
          <a:p>
            <a:pPr marL="114300" indent="0">
              <a:buNone/>
            </a:pPr>
            <a:r>
              <a:rPr lang="en-US" b="1" dirty="0"/>
              <a:t>Global Comparisons</a:t>
            </a:r>
          </a:p>
          <a:p>
            <a:r>
              <a:rPr lang="en-US" dirty="0"/>
              <a:t>Top 10 countries by population and emissions</a:t>
            </a:r>
          </a:p>
          <a:p>
            <a:r>
              <a:rPr lang="en-US" dirty="0"/>
              <a:t>Global share (%) of emissions by country</a:t>
            </a:r>
          </a:p>
          <a:p>
            <a:r>
              <a:rPr lang="en-US" dirty="0"/>
              <a:t>Global average GDP, emissions, and population by year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4266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D18D20-F2C4-B7AB-C870-099F9EB37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781" y="1"/>
            <a:ext cx="11720945" cy="6857999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1: </a:t>
            </a:r>
            <a:r>
              <a:rPr lang="en-GB" b="1" dirty="0">
                <a:solidFill>
                  <a:srgbClr val="00B050"/>
                </a:solidFill>
              </a:rPr>
              <a:t>General &amp; Comparative Analysis</a:t>
            </a:r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b="1" dirty="0">
                <a:solidFill>
                  <a:srgbClr val="FF0000"/>
                </a:solidFill>
              </a:rPr>
              <a:t>What is the total emission per country for the most recent year available?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39B40F-E92F-D773-A8AE-4A8D09EB5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24" y="2739074"/>
            <a:ext cx="5080118" cy="17128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8E86EC3-A1D3-CBB5-7D1C-E4765E3AD759}"/>
              </a:ext>
            </a:extLst>
          </p:cNvPr>
          <p:cNvSpPr/>
          <p:nvPr/>
        </p:nvSpPr>
        <p:spPr>
          <a:xfrm>
            <a:off x="0" y="1477819"/>
            <a:ext cx="11933381" cy="53016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DA48C6A-C4C8-A7EA-477C-B666D01DA0C1}"/>
              </a:ext>
            </a:extLst>
          </p:cNvPr>
          <p:cNvSpPr/>
          <p:nvPr/>
        </p:nvSpPr>
        <p:spPr>
          <a:xfrm>
            <a:off x="6148733" y="3429001"/>
            <a:ext cx="1754909" cy="21243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5FE6BB-6A97-5AF3-38A4-5EBB2517B0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5"/>
          <a:stretch>
            <a:fillRect/>
          </a:stretch>
        </p:blipFill>
        <p:spPr>
          <a:xfrm>
            <a:off x="8484996" y="1579457"/>
            <a:ext cx="2530764" cy="45129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05C389-EBAD-FB77-6E9B-483BC8A22DB8}"/>
              </a:ext>
            </a:extLst>
          </p:cNvPr>
          <p:cNvSpPr txBox="1"/>
          <p:nvPr/>
        </p:nvSpPr>
        <p:spPr>
          <a:xfrm>
            <a:off x="422187" y="4532723"/>
            <a:ext cx="6604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show the total emissions recorded for each country in the latest available year, allowing comparison of emission levels across countries and providing a basis for further environmental and economic analysis.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69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BE809-4980-D688-6798-49B6FBFAE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A94E956-7F4B-F3EA-931E-A0530719F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 </a:t>
            </a:r>
            <a:r>
              <a:rPr lang="en-US" b="1" dirty="0"/>
              <a:t>What are the top 5 countries by GDP in the most recent year?</a:t>
            </a:r>
            <a:endParaRPr lang="en-US" dirty="0"/>
          </a:p>
          <a:p>
            <a:pPr algn="l"/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AC5D60-933B-A9C3-0A96-CBD31C5F41ED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6273DA0-D827-885B-37C2-C469FA44A5B6}"/>
              </a:ext>
            </a:extLst>
          </p:cNvPr>
          <p:cNvSpPr/>
          <p:nvPr/>
        </p:nvSpPr>
        <p:spPr>
          <a:xfrm>
            <a:off x="6207655" y="2768208"/>
            <a:ext cx="1754909" cy="21243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1EA3B-B803-A64F-B8BE-5BFD2BA73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73" y="2102937"/>
            <a:ext cx="5001214" cy="1846778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48E472-C754-D853-C3C5-9068D730C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691" y="1701302"/>
            <a:ext cx="2893114" cy="21430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683E6F-D2BD-1F9C-7E5A-ABA72AC0E056}"/>
              </a:ext>
            </a:extLst>
          </p:cNvPr>
          <p:cNvSpPr txBox="1"/>
          <p:nvPr/>
        </p:nvSpPr>
        <p:spPr>
          <a:xfrm>
            <a:off x="628072" y="4279591"/>
            <a:ext cx="109266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China and the United States are among the highest GDP, followed by other major global economies.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growth often correlates with increased energy demand and infrastructure development.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825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D98F4-7242-0D8E-D468-0F025BAB5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82ECF1-A576-7602-94FA-6DDB45CC3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Q3:</a:t>
            </a:r>
            <a:r>
              <a:rPr lang="en-US" b="1" dirty="0"/>
              <a:t>Compare energy production and consumption by country and year.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F054AC-7C1C-7612-2D25-DD0D381097AA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61594D6-EC89-A89E-8323-D946883EFAFB}"/>
              </a:ext>
            </a:extLst>
          </p:cNvPr>
          <p:cNvSpPr/>
          <p:nvPr/>
        </p:nvSpPr>
        <p:spPr>
          <a:xfrm>
            <a:off x="5720816" y="3108033"/>
            <a:ext cx="463887" cy="37407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528CC2-75DC-D693-9D39-D9EE51B9C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304" y="1321501"/>
            <a:ext cx="5530150" cy="30584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F876B1-E0F7-C172-A878-8E273BB37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47" y="1425833"/>
            <a:ext cx="5113468" cy="31381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335275-5F79-AAA5-CA9C-7C66CD7E98EC}"/>
              </a:ext>
            </a:extLst>
          </p:cNvPr>
          <p:cNvSpPr txBox="1"/>
          <p:nvPr/>
        </p:nvSpPr>
        <p:spPr>
          <a:xfrm>
            <a:off x="347087" y="4563961"/>
            <a:ext cx="115513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gap between production and consumption highlights a country's role as either an energy exporter or importer.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industrialized nations often consume more energy to support manufacturing, transportation, and economic activities.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091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E5552-2AEF-9872-8210-2B4A666B6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895AF45-FB3F-5EF6-311F-69BD2968E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Q4: </a:t>
            </a:r>
            <a:r>
              <a:rPr lang="en-US" b="1" dirty="0"/>
              <a:t>Which energy types contribute most to emissions across all countries?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E3CEAE-BF4A-93AC-1E37-9793D20D0819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89D495B-F14F-A6C4-D30E-5A128AFBBB65}"/>
              </a:ext>
            </a:extLst>
          </p:cNvPr>
          <p:cNvSpPr/>
          <p:nvPr/>
        </p:nvSpPr>
        <p:spPr>
          <a:xfrm>
            <a:off x="5594800" y="3089563"/>
            <a:ext cx="1524001" cy="2170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930FF-F385-208C-589B-B0912F2C5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45" y="2617088"/>
            <a:ext cx="5266930" cy="114211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FC7271-8FB7-8B78-ACEB-69F1B019A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734" y="2617088"/>
            <a:ext cx="4388132" cy="121116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F705C4-5395-30B3-8761-B506468F63E2}"/>
              </a:ext>
            </a:extLst>
          </p:cNvPr>
          <p:cNvSpPr txBox="1"/>
          <p:nvPr/>
        </p:nvSpPr>
        <p:spPr>
          <a:xfrm>
            <a:off x="397163" y="4029634"/>
            <a:ext cx="1121294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CO₂ emissions are the largest contributor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accounting for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142,723 </a:t>
            </a:r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MMtonnes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CO₂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significantly higher than emissions from coal and coke, petroleum, and natural gas.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highlight the dominant role of CO₂ emissions in the overall emissions profile and emphasize the environmental impact associated with energy production and consumption.</a:t>
            </a:r>
          </a:p>
        </p:txBody>
      </p:sp>
    </p:spTree>
    <p:extLst>
      <p:ext uri="{BB962C8B-B14F-4D97-AF65-F5344CB8AC3E}">
        <p14:creationId xmlns:p14="http://schemas.microsoft.com/office/powerpoint/2010/main" val="1744286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B7DB5-E1C3-14EC-A923-C16F3499E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E6427A-9622-59C0-D2E4-53D7ECC1B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2: </a:t>
            </a:r>
            <a:r>
              <a:rPr lang="en-GB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 Over Time</a:t>
            </a:r>
          </a:p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Q5:</a:t>
            </a:r>
            <a:r>
              <a:rPr lang="en-US" b="1" dirty="0"/>
              <a:t>How have global emissions changed year over year?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AAD84D-62E9-DE56-BBDA-8F372040C67E}"/>
              </a:ext>
            </a:extLst>
          </p:cNvPr>
          <p:cNvSpPr/>
          <p:nvPr/>
        </p:nvSpPr>
        <p:spPr>
          <a:xfrm>
            <a:off x="129309" y="960581"/>
            <a:ext cx="11933381" cy="53016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DDCA1C5-8034-C607-070D-42546CD4DDD9}"/>
              </a:ext>
            </a:extLst>
          </p:cNvPr>
          <p:cNvSpPr/>
          <p:nvPr/>
        </p:nvSpPr>
        <p:spPr>
          <a:xfrm>
            <a:off x="6204151" y="3216563"/>
            <a:ext cx="1754909" cy="21243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DBEFB5-F918-3E8D-AD23-A2078D43B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473" y="2472148"/>
            <a:ext cx="3492596" cy="148883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F13834-727F-D64E-8D6A-B2C931D32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31" y="2730763"/>
            <a:ext cx="4997707" cy="97160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29FD4A-11EA-B8F0-4A32-2023D3AC6772}"/>
              </a:ext>
            </a:extLst>
          </p:cNvPr>
          <p:cNvSpPr txBox="1"/>
          <p:nvPr/>
        </p:nvSpPr>
        <p:spPr>
          <a:xfrm>
            <a:off x="341746" y="4343905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6E71C7E-DB67-1426-FE7B-F3D89917F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46" y="4456882"/>
            <a:ext cx="1125179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Global emissions show an overall increasing trend over the years.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Economic expansion, industrialization, and population growth continue to drive higher emission levels. </a:t>
            </a:r>
          </a:p>
        </p:txBody>
      </p:sp>
    </p:spTree>
    <p:extLst>
      <p:ext uri="{BB962C8B-B14F-4D97-AF65-F5344CB8AC3E}">
        <p14:creationId xmlns:p14="http://schemas.microsoft.com/office/powerpoint/2010/main" val="301925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FC4B4-BA2F-72EA-9E8B-9D61FCC7B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CE3B40-64BD-A7A4-C5D8-4E5928F7E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Q6: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trend in GDP for each country over the given years?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1B18DA-0722-6BF6-3A55-41B54FACACF1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DFE7C0B-4AC2-D830-C6C3-05B23017473F}"/>
              </a:ext>
            </a:extLst>
          </p:cNvPr>
          <p:cNvSpPr/>
          <p:nvPr/>
        </p:nvSpPr>
        <p:spPr>
          <a:xfrm>
            <a:off x="6132944" y="3045692"/>
            <a:ext cx="1357915" cy="15932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020D71-51F5-E83B-71E1-A139DD002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276" y="1206742"/>
            <a:ext cx="3335845" cy="422746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64144E-4802-F83D-09AF-EC5F28E8E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68" y="1585116"/>
            <a:ext cx="5597511" cy="314390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BCDA44-23AA-8F74-5991-AAEFA176E8A8}"/>
              </a:ext>
            </a:extLst>
          </p:cNvPr>
          <p:cNvSpPr txBox="1"/>
          <p:nvPr/>
        </p:nvSpPr>
        <p:spPr>
          <a:xfrm>
            <a:off x="240145" y="4928813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4D31EEE-5E8B-1F10-985A-3D676EC5B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15" y="4960905"/>
            <a:ext cx="1166216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countries demonstrate a positive GDP growth trend over time.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economies show steady growth, while emerging economies often experience faster growth rates. </a:t>
            </a:r>
          </a:p>
        </p:txBody>
      </p:sp>
    </p:spTree>
    <p:extLst>
      <p:ext uri="{BB962C8B-B14F-4D97-AF65-F5344CB8AC3E}">
        <p14:creationId xmlns:p14="http://schemas.microsoft.com/office/powerpoint/2010/main" val="672990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5F96E-5DE1-AA1F-1180-1A7271BCC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372BA0B-8AE9-4C64-3B1D-A9DE57359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7: How has population growth affected total emissions in each country?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255C70-B8EF-AE01-4F08-7EF152DBBDA8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2CEA15D-9677-946C-C20D-E568DC7C1E99}"/>
              </a:ext>
            </a:extLst>
          </p:cNvPr>
          <p:cNvSpPr/>
          <p:nvPr/>
        </p:nvSpPr>
        <p:spPr>
          <a:xfrm>
            <a:off x="6846461" y="3231949"/>
            <a:ext cx="581892" cy="21912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6B28AE-5A12-A119-CF31-7BEB4F48A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040" y="929347"/>
            <a:ext cx="4464279" cy="421178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896ABA-05CA-6B17-1938-6AAE70598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45" y="1206984"/>
            <a:ext cx="6394233" cy="354105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543CD1-E524-9020-4BCA-23857AF815A5}"/>
              </a:ext>
            </a:extLst>
          </p:cNvPr>
          <p:cNvSpPr txBox="1"/>
          <p:nvPr/>
        </p:nvSpPr>
        <p:spPr>
          <a:xfrm>
            <a:off x="240145" y="4764237"/>
            <a:ext cx="73074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with growing populations tend to experience higher emissions due to increased energy requirements.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growth is a key driver of long-term energy demand and environmental pressure.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321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82483-C24B-F06E-8063-0C9565E74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3471AF-603A-8BA2-2D93-2AE8F608D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309" y="-92363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Q8 :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energy consumption increased or decreased over the years for major economies?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456D5B-5CDF-74EF-4F70-6D8F06E05A1A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1D5BECE-7893-0675-2A61-F1863A7251C5}"/>
              </a:ext>
            </a:extLst>
          </p:cNvPr>
          <p:cNvSpPr/>
          <p:nvPr/>
        </p:nvSpPr>
        <p:spPr>
          <a:xfrm>
            <a:off x="6707708" y="3016537"/>
            <a:ext cx="932875" cy="24765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6E3FA4-6AB2-131A-ADDB-AD17F7300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183" y="2321742"/>
            <a:ext cx="3919867" cy="153213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026A5D-6280-AB3F-1E98-AB78F25ED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" y="1496511"/>
            <a:ext cx="6120826" cy="318259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B9D9D6-2F86-3AAF-F577-E1E110337792}"/>
              </a:ext>
            </a:extLst>
          </p:cNvPr>
          <p:cNvSpPr txBox="1"/>
          <p:nvPr/>
        </p:nvSpPr>
        <p:spPr>
          <a:xfrm>
            <a:off x="611708" y="4909249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increased for other top 4 countries except for Germany.</a:t>
            </a:r>
          </a:p>
        </p:txBody>
      </p:sp>
    </p:spTree>
    <p:extLst>
      <p:ext uri="{BB962C8B-B14F-4D97-AF65-F5344CB8AC3E}">
        <p14:creationId xmlns:p14="http://schemas.microsoft.com/office/powerpoint/2010/main" val="4289296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5B828-96FC-33EE-EA3B-C83D74840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683C33-7CA9-32C9-50B2-2FAE89323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3:Ratio &amp; Per Capita Analysis</a:t>
            </a:r>
          </a:p>
          <a:p>
            <a:pPr algn="l"/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Q9: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emission-to-GDP ratio for each country by year?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9098F8-71D5-52B5-3A3F-9F41A726B918}"/>
              </a:ext>
            </a:extLst>
          </p:cNvPr>
          <p:cNvSpPr/>
          <p:nvPr/>
        </p:nvSpPr>
        <p:spPr>
          <a:xfrm>
            <a:off x="129309" y="960581"/>
            <a:ext cx="11933381" cy="53016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D392CAC-530D-1C62-0654-EA34AFC955E6}"/>
              </a:ext>
            </a:extLst>
          </p:cNvPr>
          <p:cNvSpPr/>
          <p:nvPr/>
        </p:nvSpPr>
        <p:spPr>
          <a:xfrm>
            <a:off x="6204151" y="3216563"/>
            <a:ext cx="1754909" cy="21243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078E2B-4551-A80A-F422-C00BA4682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910" y="1237580"/>
            <a:ext cx="2761672" cy="414722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3559CF-CE50-EE32-724E-8337FE5F9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44" y="2479914"/>
            <a:ext cx="5558029" cy="147329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204F19-471B-9D84-CC39-F4C26BC7C82E}"/>
              </a:ext>
            </a:extLst>
          </p:cNvPr>
          <p:cNvSpPr txBox="1"/>
          <p:nvPr/>
        </p:nvSpPr>
        <p:spPr>
          <a:xfrm>
            <a:off x="452582" y="4302993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emissions-to-GDP ratio measures the amount of emissions generated per unit of economic output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963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66A88-203E-E2B2-CB12-954F3A28F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8273FC-45C2-9082-DF7C-8790DE3DD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Q10 :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energy consumption per capita for each country over the last decade?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B23FDB-CF00-D385-21E6-69F946CB5C08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645C261-0591-49FA-F9A5-9525E2AF8474}"/>
              </a:ext>
            </a:extLst>
          </p:cNvPr>
          <p:cNvSpPr/>
          <p:nvPr/>
        </p:nvSpPr>
        <p:spPr>
          <a:xfrm>
            <a:off x="6132944" y="3045692"/>
            <a:ext cx="1357915" cy="15932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2A271-EBBA-E4F6-C2FC-8D602DC2E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596" y="1069929"/>
            <a:ext cx="3106251" cy="471814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1C9417-5664-9BFE-A6FE-D865A68FB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08" y="2076285"/>
            <a:ext cx="5244099" cy="1938814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8B585C-6DEB-159E-8BEA-B2AE3EE3AE6A}"/>
              </a:ext>
            </a:extLst>
          </p:cNvPr>
          <p:cNvSpPr txBox="1"/>
          <p:nvPr/>
        </p:nvSpPr>
        <p:spPr>
          <a:xfrm>
            <a:off x="415636" y="4322741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Oil and Gas rich countries dominate the top position as average energy consumed per person is more.</a:t>
            </a:r>
          </a:p>
        </p:txBody>
      </p:sp>
    </p:spTree>
    <p:extLst>
      <p:ext uri="{BB962C8B-B14F-4D97-AF65-F5344CB8AC3E}">
        <p14:creationId xmlns:p14="http://schemas.microsoft.com/office/powerpoint/2010/main" val="3398174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0B79A-6F13-4CF5-3CF1-8467A241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8105A7-6309-B35E-2E2A-ECD484580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Q11: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energy production per capita vary across countries?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E6272C-D5EF-F32E-D674-9842530F5451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075FFCB-2A0A-DD31-AD0A-4D390F28FF46}"/>
              </a:ext>
            </a:extLst>
          </p:cNvPr>
          <p:cNvSpPr/>
          <p:nvPr/>
        </p:nvSpPr>
        <p:spPr>
          <a:xfrm>
            <a:off x="6132944" y="3045692"/>
            <a:ext cx="1357915" cy="15932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439236-F987-AA1A-C997-0ED2B9C3C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874" y="1109767"/>
            <a:ext cx="3097583" cy="431197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901A89-0103-0197-1A22-3726DAADD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5" y="2182395"/>
            <a:ext cx="5541819" cy="188591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D892B6-C889-B2CA-762D-FFBA380221F4}"/>
              </a:ext>
            </a:extLst>
          </p:cNvPr>
          <p:cNvSpPr txBox="1"/>
          <p:nvPr/>
        </p:nvSpPr>
        <p:spPr>
          <a:xfrm>
            <a:off x="415635" y="4417355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Qatar, Norway, Kuwait, UAE are energy exporting/ producing countries.</a:t>
            </a:r>
          </a:p>
        </p:txBody>
      </p:sp>
    </p:spTree>
    <p:extLst>
      <p:ext uri="{BB962C8B-B14F-4D97-AF65-F5344CB8AC3E}">
        <p14:creationId xmlns:p14="http://schemas.microsoft.com/office/powerpoint/2010/main" val="2641546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04ED9-8CD3-A58A-49A2-2C1073593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4F2F2C2-AC1D-A278-F6BC-B7FE10B86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Q12 :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countries have the highest energy consumption relative to GDP?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0410D-E392-E0DF-60E4-0B101E504A54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E5B8774-AFC8-0E74-D3A5-44F77FFF2BC0}"/>
              </a:ext>
            </a:extLst>
          </p:cNvPr>
          <p:cNvSpPr/>
          <p:nvPr/>
        </p:nvSpPr>
        <p:spPr>
          <a:xfrm>
            <a:off x="6132944" y="3045692"/>
            <a:ext cx="1357915" cy="15932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AC4C4A-DBCA-6143-9E89-3A7F08E31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277" y="966564"/>
            <a:ext cx="3051243" cy="442747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BB8AD2-9CB4-4651-46F6-CA85C6CB1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12" y="2467193"/>
            <a:ext cx="5303865" cy="164974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48E4FA-AB06-E640-3E65-37F642BE64B3}"/>
              </a:ext>
            </a:extLst>
          </p:cNvPr>
          <p:cNvSpPr txBox="1"/>
          <p:nvPr/>
        </p:nvSpPr>
        <p:spPr>
          <a:xfrm>
            <a:off x="452582" y="4409369"/>
            <a:ext cx="6705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countries with high consumption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ratio indicates that they consume much energy to produce unit of economic output.</a:t>
            </a:r>
          </a:p>
        </p:txBody>
      </p:sp>
    </p:spTree>
    <p:extLst>
      <p:ext uri="{BB962C8B-B14F-4D97-AF65-F5344CB8AC3E}">
        <p14:creationId xmlns:p14="http://schemas.microsoft.com/office/powerpoint/2010/main" val="981622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98A9D-0A87-165C-17B4-63A5F364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6555FB-276B-AFFE-ECBC-2C1E207A1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4:Global Comparisons</a:t>
            </a:r>
          </a:p>
          <a:p>
            <a:pPr algn="l"/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E86615E-5DC9-40E8-67D1-BAE740B0D79A}"/>
              </a:ext>
            </a:extLst>
          </p:cNvPr>
          <p:cNvSpPr txBox="1">
            <a:spLocks/>
          </p:cNvSpPr>
          <p:nvPr/>
        </p:nvSpPr>
        <p:spPr>
          <a:xfrm>
            <a:off x="262241" y="292723"/>
            <a:ext cx="11521361" cy="6233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Q13 :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top 10 countries by population and how do their emissions compare?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88B53D-4058-CFDC-B34C-58CCC8A99324}"/>
              </a:ext>
            </a:extLst>
          </p:cNvPr>
          <p:cNvSpPr/>
          <p:nvPr/>
        </p:nvSpPr>
        <p:spPr>
          <a:xfrm>
            <a:off x="262241" y="1310846"/>
            <a:ext cx="11730180" cy="4959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0CDF705-4252-9410-ED96-07450A83C060}"/>
              </a:ext>
            </a:extLst>
          </p:cNvPr>
          <p:cNvSpPr/>
          <p:nvPr/>
        </p:nvSpPr>
        <p:spPr>
          <a:xfrm>
            <a:off x="6234546" y="3252522"/>
            <a:ext cx="1334792" cy="14482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D3088C4-1BA0-8268-5299-F664EC003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655" y="2062669"/>
            <a:ext cx="3249669" cy="301491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1CD078A-0F9F-807B-8DBF-94ECB3748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11" y="2514172"/>
            <a:ext cx="5690411" cy="160816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E95BD0F-735C-0841-E809-1225A2999E7D}"/>
              </a:ext>
            </a:extLst>
          </p:cNvPr>
          <p:cNvSpPr txBox="1"/>
          <p:nvPr/>
        </p:nvSpPr>
        <p:spPr>
          <a:xfrm>
            <a:off x="408398" y="4415061"/>
            <a:ext cx="59921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with high average population are producing much emissions.</a:t>
            </a:r>
          </a:p>
        </p:txBody>
      </p:sp>
    </p:spTree>
    <p:extLst>
      <p:ext uri="{BB962C8B-B14F-4D97-AF65-F5344CB8AC3E}">
        <p14:creationId xmlns:p14="http://schemas.microsoft.com/office/powerpoint/2010/main" val="3475139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1CA32-38DD-3D16-43EE-4B34562D0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F2AAA9-4282-EE25-32A5-697558B2C0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Q14: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global share (%) of emissions by country?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AC4001-BEB5-F0ED-B3F8-0F9BBFB19A63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1AC40DF-9546-D610-0C38-7C0C68E78DA5}"/>
              </a:ext>
            </a:extLst>
          </p:cNvPr>
          <p:cNvSpPr/>
          <p:nvPr/>
        </p:nvSpPr>
        <p:spPr>
          <a:xfrm>
            <a:off x="6480979" y="3045691"/>
            <a:ext cx="1357915" cy="15932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AEA875-5D62-C7DD-0266-FBBF93E14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703" y="1135888"/>
            <a:ext cx="3602919" cy="443363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D2CF91-6C86-B18F-5966-8EADD5165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89" y="2673437"/>
            <a:ext cx="6031346" cy="90383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5211A7-5304-8606-6EA0-7ECB7FB149D1}"/>
              </a:ext>
            </a:extLst>
          </p:cNvPr>
          <p:cNvSpPr txBox="1"/>
          <p:nvPr/>
        </p:nvSpPr>
        <p:spPr>
          <a:xfrm>
            <a:off x="292132" y="4260914"/>
            <a:ext cx="66963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China is the top most contributor in the world as it accounts to 32.3% to total global emissions.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286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70CF2-6A9E-7A68-01F1-CB6539524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AB9939-C9AB-6A2D-DCF0-5B98D6AD7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145" y="0"/>
            <a:ext cx="11720945" cy="6857999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Q15 :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global average GDP, emission, and population by year?</a:t>
            </a:r>
            <a:br>
              <a:rPr lang="en-US" dirty="0"/>
            </a:b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F4B78E-59CD-FD5B-FC10-47D421594642}"/>
              </a:ext>
            </a:extLst>
          </p:cNvPr>
          <p:cNvSpPr/>
          <p:nvPr/>
        </p:nvSpPr>
        <p:spPr>
          <a:xfrm>
            <a:off x="129309" y="723016"/>
            <a:ext cx="11933381" cy="5456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F7AE99F-9E0F-48EF-EEFF-0A3DBCB604EA}"/>
              </a:ext>
            </a:extLst>
          </p:cNvPr>
          <p:cNvSpPr/>
          <p:nvPr/>
        </p:nvSpPr>
        <p:spPr>
          <a:xfrm>
            <a:off x="5809672" y="3045691"/>
            <a:ext cx="1357915" cy="15932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4202CA-B772-0FBA-8BBE-5A4BBF629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550" y="2346082"/>
            <a:ext cx="4337576" cy="139921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982E2D-8AB3-D220-D6B7-94FB5689B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90" y="1812920"/>
            <a:ext cx="4781346" cy="306904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E793CB-22E4-504F-D42A-3F5D3D4C3753}"/>
              </a:ext>
            </a:extLst>
          </p:cNvPr>
          <p:cNvSpPr txBox="1"/>
          <p:nvPr/>
        </p:nvSpPr>
        <p:spPr>
          <a:xfrm>
            <a:off x="815890" y="5068880"/>
            <a:ext cx="109172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 Growth → Economic Growth (GDP)→Higher Energy Consumption →Higher Emissions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283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8E58A-8995-416B-5E20-454BCE843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0437A49-2B61-D750-62B1-1F87FB0DC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837" y="637308"/>
            <a:ext cx="11129818" cy="5975927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study highlights the strong relationship between economic growth, energy use, and emissions.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Fossil-fuel-rich countries dominated energy production per capita, indicating strong dependence on oil and gas industries.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and industrialized countries showed the highest energy consumption per capita, reflecting energy-intensive lifestyles and infrastructure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growth contributes significantly to rising energy demand, urbanization, and environmental pressure.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with higher economic activity generally exhibited higher energy consumption and greenhouse gas emissions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GDP, population, and emissions showed an increasing trend over recent years especially in 2023, highlighting continued economic and industrial expansion.</a:t>
            </a:r>
            <a:endParaRPr lang="en-GB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454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8D17AC79-AF59-2A4D-561A-1BF907657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>
            <a:extLst>
              <a:ext uri="{FF2B5EF4-FFF2-40B4-BE49-F238E27FC236}">
                <a16:creationId xmlns:a16="http://schemas.microsoft.com/office/drawing/2014/main" id="{94D30392-59FE-AAF6-5AC6-6793FB377D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671C9161-89D0-CAB1-0E7A-CE6AF7DF76DB}"/>
              </a:ext>
            </a:extLst>
          </p:cNvPr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5175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1206</TotalTime>
  <Words>952</Words>
  <Application>Microsoft Office PowerPoint</Application>
  <PresentationFormat>Widescreen</PresentationFormat>
  <Paragraphs>106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Times New Roman</vt:lpstr>
      <vt:lpstr>Arial</vt:lpstr>
      <vt:lpstr>Libre Baskerville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ANALYSIS QUESTIONS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Shivani Gundla</cp:lastModifiedBy>
  <cp:revision>15</cp:revision>
  <dcterms:created xsi:type="dcterms:W3CDTF">2021-02-16T05:19:01Z</dcterms:created>
  <dcterms:modified xsi:type="dcterms:W3CDTF">2026-06-11T18:34:21Z</dcterms:modified>
</cp:coreProperties>
</file>